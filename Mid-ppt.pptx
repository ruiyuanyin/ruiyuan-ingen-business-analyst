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5" r:id="rId6"/>
    <p:sldId id="271" r:id="rId7"/>
    <p:sldId id="282" r:id="rId8"/>
    <p:sldId id="283" r:id="rId9"/>
    <p:sldId id="284" r:id="rId10"/>
    <p:sldId id="285" r:id="rId11"/>
    <p:sldId id="286" r:id="rId12"/>
  </p:sldIdLst>
  <p:sldSz cx="12192000" cy="6858000"/>
  <p:notesSz cx="6858000" cy="12192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2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/>
              <a:t>Five-Year TCO per Modeled Security Post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Five-year TCO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$$-2009]#,##0;[Red][$$-2009]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Sentinel Prime AI</c:v>
                </c:pt>
                <c:pt idx="1">
                  <c:v>Human security post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509447</c:v>
                </c:pt>
                <c:pt idx="1">
                  <c:v>1236434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343808229"/>
        <c:axId val="36286782"/>
      </c:barChart>
      <c:catAx>
        <c:axId val="34380822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accent1"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6286782"/>
        <c:crosses val="autoZero"/>
        <c:auto val="1"/>
        <c:lblAlgn val="ctr"/>
        <c:lblOffset val="100"/>
        <c:noMultiLvlLbl val="0"/>
      </c:catAx>
      <c:valAx>
        <c:axId val="3628678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4380822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d1b39d4-24b3-469d-a1b0-845c3d2dbf14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9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/>
              <a:t>NPV by Scenario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108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Type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561511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Hardware cost +20%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108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Type</c:v>
                </c:pt>
              </c:strCache>
            </c:strRef>
          </c:cat>
          <c:val>
            <c:numRef>
              <c:f>Sheet1!$C$2</c:f>
              <c:numCache>
                <c:formatCode>#,##0</c:formatCode>
                <c:ptCount val="1"/>
                <c:pt idx="0">
                  <c:v>540091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Useful life: 3 years</c:v>
                </c:pt>
              </c:strCache>
            </c:strRef>
          </c:tx>
          <c:spPr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90000">
                  <a:schemeClr val="accent3"/>
                </a:gs>
              </a:gsLst>
              <a:lin ang="10800000" scaled="0"/>
            </a:gradFill>
            <a:ln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Type</c:v>
                </c:pt>
              </c:strCache>
            </c:strRef>
          </c:cat>
          <c:val>
            <c:numRef>
              <c:f>Sheet1!$D$2</c:f>
              <c:numCache>
                <c:formatCode>#,##0</c:formatCode>
                <c:ptCount val="1"/>
                <c:pt idx="0">
                  <c:v>317647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105957009"/>
        <c:axId val="103570609"/>
      </c:barChart>
      <c:catAx>
        <c:axId val="10595700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03570609"/>
        <c:crosses val="autoZero"/>
        <c:auto val="1"/>
        <c:lblAlgn val="ctr"/>
        <c:lblOffset val="100"/>
        <c:noMultiLvlLbl val="0"/>
      </c:catAx>
      <c:valAx>
        <c:axId val="10357060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0"/>
                  <a:lumOff val="50000"/>
                  <a:alpha val="4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0595700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07b307c-e3ec-46e0-9530-c4981ed596d9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b="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2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77239" y="2100262"/>
            <a:ext cx="10624185" cy="186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InGen Dynamics Midpoint Review</a:t>
            </a:r>
            <a:endParaRPr lang="en-US" altLang="zh-CN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A–B: Market Opportunity, Cost Economics, and KPI Framework</a:t>
            </a:r>
            <a:endParaRPr lang="en-US" altLang="zh-CN" sz="2800" b="1" i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528" y="4389120"/>
            <a:ext cx="5486400" cy="140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altLang="zh-CN" sz="1400" b="1" i="1" dirty="0">
                <a:solidFill>
                  <a:schemeClr val="bg1"/>
                </a:solidFill>
              </a:rPr>
              <a:t>Ruiyuan Yin</a:t>
            </a:r>
            <a:endParaRPr lang="en-US" altLang="zh-CN" sz="1400" b="1" i="1" dirty="0">
              <a:solidFill>
                <a:schemeClr val="bg1"/>
              </a:solidFill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1400" b="1" i="1" dirty="0">
                <a:solidFill>
                  <a:schemeClr val="bg1"/>
                </a:solidFill>
              </a:rPr>
              <a:t>Business Analyst Internship</a:t>
            </a:r>
            <a:endParaRPr lang="en-US" altLang="zh-CN" sz="1400" b="1" i="1" dirty="0">
              <a:solidFill>
                <a:schemeClr val="bg1"/>
              </a:solidFill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1400" b="1" i="1" dirty="0">
                <a:solidFill>
                  <a:schemeClr val="bg1"/>
                </a:solidFill>
              </a:rPr>
              <a:t>August 1, 2026</a:t>
            </a:r>
            <a:endParaRPr lang="en-US" altLang="zh-CN" sz="1400" b="1" i="1" dirty="0">
              <a:solidFill>
                <a:schemeClr val="bg1"/>
              </a:solidFill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796290"/>
            <a:ext cx="4392295" cy="875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6545"/>
            <a:ext cx="1059307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Each platform needs a different business case and one clear outcome metric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9445" y="1261110"/>
          <a:ext cx="10593705" cy="4514215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  <a:gridCol w="2538095"/>
                <a:gridCol w="348361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setting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Useful outcome metric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business driver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Fari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Nursing and senior care facilities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per completed resident session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Software, support, privacy, and adoption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Senpai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K–8 education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per completed student session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Curriculum, training, support, and classroom use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Sentinel Prime AI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Enterprise security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per monitored hour or validated alert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Integration, monitoring, storage, and false alerts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Aido Rover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Outdoor patrol and inspection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per completed patrol or inspection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Maintenance, downtime, and recovery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Aido Humanoid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operations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per accepted work cycle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Task engineering, supervision, and safety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40080" y="5832475"/>
            <a:ext cx="1088199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/>
              <a:t>Electricity matters, but it is usually smaller than software, integration, maintenance, downtime, and human support.</a:t>
            </a:r>
            <a:endParaRPr lang="en-US" altLang="zh-CN" sz="2000"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Only 3 of 17 vendors publish a fixed price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60720" y="1419860"/>
            <a:ext cx="5760720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ctr">
              <a:spcAft>
                <a:spcPts val="1400"/>
              </a:spcAft>
              <a:buSzPct val="100000"/>
              <a:buNone/>
            </a:pPr>
            <a:r>
              <a:rPr lang="en-US" altLang="zh-CN" sz="1600" b="1" u="sng" dirty="0"/>
              <a:t>Four gaps InGen can test</a:t>
            </a:r>
            <a:endParaRPr lang="en-US" altLang="zh-CN" sz="1600" b="1" u="sng" dirty="0"/>
          </a:p>
        </p:txBody>
      </p:sp>
      <p:sp>
        <p:nvSpPr>
          <p:cNvPr id="12" name="文本框 11"/>
          <p:cNvSpPr txBox="1"/>
          <p:nvPr/>
        </p:nvSpPr>
        <p:spPr>
          <a:xfrm>
            <a:off x="1209675" y="5587365"/>
            <a:ext cx="98825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/>
              <a:t>Pricing transparency and Sentinel security evidence should be tested first because they do not require new hardware.</a:t>
            </a:r>
            <a:endParaRPr lang="en-US" altLang="zh-CN" sz="2000" b="1" i="1"/>
          </a:p>
        </p:txBody>
      </p:sp>
      <p:sp>
        <p:nvSpPr>
          <p:cNvPr id="8" name="文本框 7"/>
          <p:cNvSpPr txBox="1"/>
          <p:nvPr/>
        </p:nvSpPr>
        <p:spPr>
          <a:xfrm>
            <a:off x="6272530" y="2046605"/>
            <a:ext cx="511048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Pilot economics</a:t>
            </a:r>
            <a:endParaRPr lang="en-US" altLang="zh-CN" sz="1600" b="1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Publish a standard 90-day pilot range and a short TCO worksheet.</a:t>
            </a:r>
            <a:endParaRPr lang="en-US" altLang="zh-CN" sz="1600"/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Security evidence</a:t>
            </a:r>
            <a:endParaRPr lang="en-US" altLang="zh-CN" sz="1600" b="1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Track validated alerts, response time, and manual patrol reduction.</a:t>
            </a:r>
            <a:endParaRPr lang="en-US" altLang="zh-CN" sz="1600"/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Outdoor packaging</a:t>
            </a:r>
            <a:endParaRPr lang="en-US" altLang="zh-CN" sz="1600" b="1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Combine two recurring Rover workflows in one pilot.</a:t>
            </a:r>
            <a:endParaRPr lang="en-US" altLang="zh-CN" sz="1600"/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Humanoid value</a:t>
            </a:r>
            <a:endParaRPr lang="en-US" altLang="zh-CN" sz="1600" b="1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Compete on task results and deployment effort, not hardware price alone.</a:t>
            </a:r>
            <a:endParaRPr lang="en-US" altLang="zh-CN" sz="1600"/>
          </a:p>
        </p:txBody>
      </p:sp>
      <p:cxnSp>
        <p:nvCxnSpPr>
          <p:cNvPr id="11" name="直接连接符 10"/>
          <p:cNvCxnSpPr/>
          <p:nvPr/>
        </p:nvCxnSpPr>
        <p:spPr>
          <a:xfrm>
            <a:off x="5913755" y="1473200"/>
            <a:ext cx="0" cy="369252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图片 15" descr="vendor_pricing_transparency_donu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6890" y="2046605"/>
            <a:ext cx="5330825" cy="2648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6545"/>
            <a:ext cx="1059307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Sentinel has the largest modeled three-year SOM revenue at $17.25M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9445" y="1261110"/>
          <a:ext cx="10593705" cy="3051175"/>
        </p:xfrm>
        <a:graphic>
          <a:graphicData uri="http://schemas.openxmlformats.org/drawingml/2006/table">
            <a:tbl>
              <a:tblPr/>
              <a:tblGrid>
                <a:gridCol w="2133172"/>
                <a:gridCol w="1544955"/>
                <a:gridCol w="1672554"/>
                <a:gridCol w="2621477"/>
                <a:gridCol w="2621547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TAM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Three-year SOM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Modeled SOM revenue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Fari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14,695 facilities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7,395 larger facilities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74 facilities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$1.11M</a:t>
                      </a:r>
                      <a:endParaRPr lang="en-US" altLang="zh-CN" sz="1800" b="1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Senpai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100,237 schools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28,218 target schools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141 schools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$2.40M</a:t>
                      </a:r>
                      <a:endParaRPr lang="en-US" altLang="zh-CN" sz="1800" b="1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Sentinel Prime AI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1,283,470 deployment opportunities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919,750 target-industry opportunities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276 deployments</a:t>
                      </a:r>
                      <a:endParaRPr lang="en-US" altLang="zh-CN" sz="180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$17.25M</a:t>
                      </a:r>
                      <a:endParaRPr lang="en-US" altLang="zh-CN" sz="1800" b="1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55320" y="4728210"/>
            <a:ext cx="1088199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/>
              <a:t>The market models use public institutional and employment data rather than a general robotics-market percentage.</a:t>
            </a:r>
            <a:endParaRPr lang="en-US" altLang="zh-CN" sz="2000" b="1" i="1"/>
          </a:p>
        </p:txBody>
      </p:sp>
      <p:sp>
        <p:nvSpPr>
          <p:cNvPr id="3" name="文本框 2"/>
          <p:cNvSpPr txBox="1"/>
          <p:nvPr/>
        </p:nvSpPr>
        <p:spPr>
          <a:xfrm>
            <a:off x="655320" y="5501640"/>
            <a:ext cx="74396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u="sng"/>
              <a:t>Notes:</a:t>
            </a:r>
            <a:endParaRPr lang="en-US" altLang="zh-CN" sz="1400" i="1" u="sng"/>
          </a:p>
          <a:p>
            <a:r>
              <a:rPr lang="en-US" altLang="zh-CN" sz="1400" i="1" u="sng"/>
              <a:t>Fari: CMS nursing facility data</a:t>
            </a:r>
            <a:endParaRPr lang="en-US" altLang="zh-CN" sz="1400" i="1" u="sng"/>
          </a:p>
          <a:p>
            <a:r>
              <a:rPr lang="en-US" altLang="zh-CN" sz="1400" i="1" u="sng"/>
              <a:t>Senpai: NCES public school data</a:t>
            </a:r>
            <a:endParaRPr lang="en-US" altLang="zh-CN" sz="1400" i="1" u="sng"/>
          </a:p>
          <a:p>
            <a:r>
              <a:rPr lang="en-US" altLang="zh-CN" sz="1400" i="1" u="sng"/>
              <a:t>Sentinel Prime AI: BLS security guard employment data</a:t>
            </a:r>
            <a:endParaRPr lang="en-US" altLang="zh-CN" sz="1400" i="1" u="s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Rover lowers patrol cost by 23%, but breaks even in Year 4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09675" y="5587365"/>
            <a:ext cx="98825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/>
              <a:t>Base case: both options cover the same 20 km daily patrol route. Labor hours and wage levels drive the result, while electricity has little effect.</a:t>
            </a:r>
            <a:endParaRPr lang="en-US" altLang="zh-CN" sz="2000" b="1" i="1"/>
          </a:p>
        </p:txBody>
      </p:sp>
      <p:sp>
        <p:nvSpPr>
          <p:cNvPr id="8" name="文本框 7"/>
          <p:cNvSpPr txBox="1"/>
          <p:nvPr/>
        </p:nvSpPr>
        <p:spPr>
          <a:xfrm>
            <a:off x="7352030" y="2046605"/>
            <a:ext cx="41694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Rover five-year TCO: </a:t>
            </a:r>
            <a:r>
              <a:rPr lang="en-US" altLang="zh-CN" sz="1600"/>
              <a:t>$346,632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Human patrol five-year TCO: </a:t>
            </a:r>
            <a:r>
              <a:rPr lang="en-US" altLang="zh-CN" sz="1600"/>
              <a:t>$450,137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Five-year savings: </a:t>
            </a:r>
            <a:r>
              <a:rPr lang="en-US" altLang="zh-CN" sz="1600"/>
              <a:t>$103,505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Rover cost per km: </a:t>
            </a:r>
            <a:r>
              <a:rPr lang="en-US" altLang="zh-CN" sz="1600"/>
              <a:t>$9.50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Human patrol cost per km: </a:t>
            </a:r>
            <a:r>
              <a:rPr lang="en-US" altLang="zh-CN" sz="1600"/>
              <a:t>$12.33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Estimated payback: </a:t>
            </a:r>
            <a:r>
              <a:rPr lang="en-US" altLang="zh-CN" sz="1600"/>
              <a:t>38.0 months</a:t>
            </a:r>
            <a:endParaRPr lang="en-US" altLang="zh-CN" sz="1600"/>
          </a:p>
        </p:txBody>
      </p:sp>
      <p:cxnSp>
        <p:nvCxnSpPr>
          <p:cNvPr id="11" name="直接连接符 10"/>
          <p:cNvCxnSpPr/>
          <p:nvPr/>
        </p:nvCxnSpPr>
        <p:spPr>
          <a:xfrm>
            <a:off x="6666865" y="1473200"/>
            <a:ext cx="0" cy="369252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rover_vs_human_patrol_cumulative_tc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765" y="1556385"/>
            <a:ext cx="5993765" cy="352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Sentinel deployment delivers $561,511 in NPV with a 7.6-month payback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7205" y="5307330"/>
            <a:ext cx="11174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The model places the initial investment in Year 0 and discounts operating savings in Years 1–5.</a:t>
            </a:r>
            <a:endParaRPr lang="en-US" altLang="zh-CN" sz="2000" b="1" i="1" dirty="0"/>
          </a:p>
          <a:p>
            <a:r>
              <a:rPr lang="en-US" altLang="zh-CN" sz="2000" b="1" i="1" dirty="0"/>
              <a:t>Base case: one 24/7 security post, 25% human oversight, and 2% downtime backup.</a:t>
            </a:r>
            <a:endParaRPr lang="en-US" altLang="zh-CN" sz="2000" b="1" i="1" dirty="0"/>
          </a:p>
          <a:p>
            <a:r>
              <a:rPr lang="en-US" altLang="zh-CN" sz="2000" b="1" i="1" dirty="0"/>
              <a:t>Under the base case, one deployment is already NPV-positive, so the customer model does not imply a larger minimum contract size.</a:t>
            </a:r>
            <a:endParaRPr lang="en-US" altLang="zh-CN" sz="2000" b="1" i="1" dirty="0"/>
          </a:p>
        </p:txBody>
      </p:sp>
      <p:sp>
        <p:nvSpPr>
          <p:cNvPr id="8" name="文本框 7"/>
          <p:cNvSpPr txBox="1"/>
          <p:nvPr/>
        </p:nvSpPr>
        <p:spPr>
          <a:xfrm>
            <a:off x="6633845" y="2046605"/>
            <a:ext cx="41694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Initial investment per deployment: </a:t>
            </a:r>
            <a:r>
              <a:rPr lang="en-US" altLang="zh-CN" sz="1600"/>
              <a:t>$98,125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Discount rate: </a:t>
            </a:r>
            <a:r>
              <a:rPr lang="en-US" altLang="zh-CN" sz="1600"/>
              <a:t>7.75%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NPV per deployment: </a:t>
            </a:r>
            <a:r>
              <a:rPr lang="en-US" altLang="zh-CN" sz="1600"/>
              <a:t>$561,511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IRR:</a:t>
            </a:r>
            <a:r>
              <a:rPr lang="en-US" altLang="zh-CN" sz="1600"/>
              <a:t> 158.7%</a:t>
            </a:r>
            <a:endParaRPr lang="en-US" altLang="zh-CN" sz="16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/>
              <a:t>Payback: </a:t>
            </a:r>
            <a:r>
              <a:rPr lang="en-US" altLang="zh-CN" sz="1600"/>
              <a:t>7.6 months</a:t>
            </a:r>
            <a:endParaRPr lang="en-US" altLang="zh-CN" sz="1600"/>
          </a:p>
        </p:txBody>
      </p:sp>
      <p:cxnSp>
        <p:nvCxnSpPr>
          <p:cNvPr id="11" name="直接连接符 10"/>
          <p:cNvCxnSpPr/>
          <p:nvPr/>
        </p:nvCxnSpPr>
        <p:spPr>
          <a:xfrm>
            <a:off x="6179820" y="1473200"/>
            <a:ext cx="0" cy="369252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" name="图表 6" descr="7b0a202020202263686172745265734964223a202234363130333534220a7d0a"/>
          <p:cNvGraphicFramePr/>
          <p:nvPr/>
        </p:nvGraphicFramePr>
        <p:xfrm>
          <a:off x="420515" y="1588279"/>
          <a:ext cx="5532293" cy="3462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6545"/>
            <a:ext cx="1059307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 three-year useful life is the largest downside risk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635" y="1866265"/>
          <a:ext cx="5702300" cy="2546985"/>
        </p:xfrm>
        <a:graphic>
          <a:graphicData uri="http://schemas.openxmlformats.org/drawingml/2006/table">
            <a:tbl>
              <a:tblPr/>
              <a:tblGrid>
                <a:gridCol w="2241550"/>
                <a:gridCol w="1222375"/>
                <a:gridCol w="1184910"/>
                <a:gridCol w="105346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Scenario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Change vs. base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IRR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Payback</a:t>
                      </a:r>
                      <a:endParaRPr lang="en-US" altLang="zh-CN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 case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158.7%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7.6 mo.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cost +20%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−$21,420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131.3%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9.2 mo.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Useful life: 3 years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−$243,864</a:t>
                      </a:r>
                      <a:endParaRPr lang="en-US" altLang="zh-CN" sz="1800" b="1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149.8%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7.6 mo.</a:t>
                      </a:r>
                      <a:endParaRPr lang="en-US" altLang="zh-CN" sz="18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40080" y="5434965"/>
            <a:ext cx="1088199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/>
              <a:t>All three scenarios remain NPV-positive. A three-year useful life reduces NPV by $243,864 because the model removes Years 4–5 savings.</a:t>
            </a:r>
            <a:endParaRPr lang="en-US" altLang="zh-CN" sz="2000" b="1" i="1"/>
          </a:p>
        </p:txBody>
      </p:sp>
      <p:graphicFrame>
        <p:nvGraphicFramePr>
          <p:cNvPr id="4" name="图表 3" descr="7b0a202020202263686172745265734964223a202234363530303930220a7d0a"/>
          <p:cNvGraphicFramePr/>
          <p:nvPr/>
        </p:nvGraphicFramePr>
        <p:xfrm>
          <a:off x="397510" y="1684655"/>
          <a:ext cx="5060315" cy="291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5847715" y="1043305"/>
            <a:ext cx="0" cy="439166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6545"/>
            <a:ext cx="1059307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0030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Recommended KPI Framework and Next Steps</a:t>
            </a:r>
            <a:endParaRPr lang="en-US" altLang="zh-CN" sz="3200" b="1" dirty="0">
              <a:solidFill>
                <a:srgbClr val="00305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5320" y="1163320"/>
          <a:ext cx="10593705" cy="3051175"/>
        </p:xfrm>
        <a:graphic>
          <a:graphicData uri="http://schemas.openxmlformats.org/drawingml/2006/table">
            <a:tbl>
              <a:tblPr/>
              <a:tblGrid>
                <a:gridCol w="2133172"/>
                <a:gridCol w="1544955"/>
                <a:gridCol w="1672554"/>
                <a:gridCol w="2621477"/>
                <a:gridCol w="2621547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Deployment target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Operational target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Energy and customer economics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Business-health target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Fari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74 paid facilities by Year 3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≥90% resident-session completion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Freeze kWh/session and cost/session baselines after pilot Day 30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$13.5k–$16.5k revenue per facility-year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Senpai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141 paid schools by Year 3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≥90% student-session completion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Freeze kWh/session and cost/session baselines after pilot Day 30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$15.3k–$18.7k revenue per school-year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Sentinel Prime AI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184–920 deployments, base 276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≥98% monitoring availability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≤0.125 kWh per monitored hour and ≤$11.63 cost per hour, compared with $28.23 for human security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2C35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$11.25k–$13.75k recurring revenue per deployment-year</a:t>
                      </a:r>
                      <a:endParaRPr lang="en-US" altLang="zh-CN" sz="1600" b="0" dirty="0">
                        <a:solidFill>
                          <a:srgbClr val="2C3542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40080" y="5139055"/>
            <a:ext cx="10881995" cy="11379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b="1" i="1"/>
              <a:t>Next steps</a:t>
            </a:r>
            <a:endParaRPr lang="en-US" altLang="zh-CN" sz="2000" b="1" i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/>
              <a:t>Set Fari and Senpai baselines during the first 30 pilot days.</a:t>
            </a:r>
            <a:endParaRPr lang="en-US" altLang="zh-CN" sz="2000" b="1" i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/>
              <a:t>Test Sentinel cost and performance assumptions with pilot data.</a:t>
            </a:r>
            <a:endParaRPr lang="en-US" altLang="zh-CN" sz="2000" b="1" i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i="1"/>
              <a:t>Review operations monthly and business results quarterly.</a:t>
            </a:r>
            <a:endParaRPr lang="en-US" altLang="zh-CN" sz="2000" b="1" i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4*182"/>
  <p:tag name="TABLE_ENDDRAG_RECT" val="50*99*834*182"/>
</p:tagLst>
</file>

<file path=ppt/tags/tag2.xml><?xml version="1.0" encoding="utf-8"?>
<p:tagLst xmlns:p="http://schemas.openxmlformats.org/presentationml/2006/main">
  <p:tag name="TABLE_ENDDRAG_ORIGIN_RECT" val="834*182"/>
  <p:tag name="TABLE_ENDDRAG_RECT" val="50*99*834*182"/>
</p:tagLst>
</file>

<file path=ppt/tags/tag3.xml><?xml version="1.0" encoding="utf-8"?>
<p:tagLst xmlns:p="http://schemas.openxmlformats.org/presentationml/2006/main">
  <p:tag name="TABLE_ENDDRAG_ORIGIN_RECT" val="449*240"/>
  <p:tag name="TABLE_ENDDRAG_RECT" val="480*99*449*240"/>
</p:tagLst>
</file>

<file path=ppt/tags/tag4.xml><?xml version="1.0" encoding="utf-8"?>
<p:tagLst xmlns:p="http://schemas.openxmlformats.org/presentationml/2006/main">
  <p:tag name="TABLE_ENDDRAG_ORIGIN_RECT" val="834*182"/>
  <p:tag name="TABLE_ENDDRAG_RECT" val="50*99*834*182"/>
</p:tagLst>
</file>

<file path=ppt/tags/tag5.xml><?xml version="1.0" encoding="utf-8"?>
<p:tagLst xmlns:p="http://schemas.openxmlformats.org/presentationml/2006/main">
  <p:tag name="RESOURCE_RECORD_KEY" val="{&quot;8&quot;:[4650090,4610354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50000"/>
            </a:schemeClr>
          </a:solidFill>
        </a:ln>
      </a:spPr>
      <a:bodyPr/>
      <a:lstStyle/>
      <a:style>
        <a:lnRef idx="3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4112</Words>
  <Application>WPS 演示</Application>
  <PresentationFormat>宽屏</PresentationFormat>
  <Paragraphs>229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Cambria</vt:lpstr>
      <vt:lpstr>Cambria</vt:lpstr>
      <vt:lpstr>Cambria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 University Presentation Template</dc:title>
  <dc:creator>Trine University template</dc:creator>
  <dc:subject>PptxGenJS Presentation</dc:subject>
  <cp:lastModifiedBy> </cp:lastModifiedBy>
  <cp:revision>23</cp:revision>
  <dcterms:created xsi:type="dcterms:W3CDTF">2026-08-01T04:31:00Z</dcterms:created>
  <dcterms:modified xsi:type="dcterms:W3CDTF">2026-08-03T14:49:46Z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847DB43C930D45B3BFFA46CB31D0CE6C_12</vt:lpwstr>
  </property>
</Properties>
</file>